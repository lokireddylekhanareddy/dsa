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9" r:id="rId18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  <Relationship Id="rId18" Type="http://schemas.openxmlformats.org/officeDocument/2006/relationships/slide" Target="slides/slide13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team13_geotag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Route Planning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K. Yaminisai (2520030380)</a:t>
            </a:r>
          </a:p>
          <a:p>
            <a:r>
              <a:rPr lang="en-US" dirty="0">
                <a:solidFill>
                  <a:srgbClr val="0070C0"/>
                </a:solidFill>
              </a:rPr>
              <a:t>L. Lekhana (2520030364)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Swathi mam, Assistant Professor, Dept. of CSE, KLH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101" name="Card 101"/>
          <p:cNvSpPr/>
          <p:nvPr/>
        </p:nvSpPr>
        <p:spPr>
          <a:xfrm>
            <a:off x="1000000" y="1150000"/>
            <a:ext cx="6300000" cy="47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50000" rIns="150000" tIns="150000" bIns="150000" anchor="t" rtlCol="0">
            <a:noAutofit/>
          </a:bodyPr>
          <a:lstStyle/>
          <a:p>
            <a:pPr algn="l" marL="0" indent="0">
              <a:spcAft>
                <a:spcPts val="500"/>
              </a:spcAft>
              <a:buNone/>
            </a:pPr>
            <a:r>
              <a:rPr lang="en-US" sz="1900" b="1" i="0" dirty="0">
                <a:solidFill>
                  <a:srgbClr val="C00000"/>
                </a:solidFill>
                <a:latin typeface="Calibri"/>
              </a:rPr>
              <a:t>Graph-based route optimisation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Locations are vertices and roads are weighted edges (distance / travel cost).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Dynamic Programming with Bitmask State Compression solves the Travelling Salesperson Problem (TSP): the minimum-cost tour that visits every selected location once and returns to the start.</a:t>
            </a:r>
          </a:p>
          <a:p>
            <a:pPr algn="l" marL="228600" indent="-228600">
              <a:spcAft>
                <a:spcPts val="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Demonstrates graphs, DP, bitmasks, state-space optimisation and route reconstruction.</a:t>
            </a:r>
          </a:p>
        </p:txBody>
      </p:sp>
      <p:sp>
        <p:nvSpPr>
          <p:cNvPr id="102" name="Stat 102"/>
          <p:cNvSpPr/>
          <p:nvPr/>
        </p:nvSpPr>
        <p:spPr>
          <a:xfrm>
            <a:off x="7550000" y="1150000"/>
            <a:ext cx="3642000" cy="105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91440" rIns="91440" tIns="91440" bIns="9144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O(n²·2ⁿ)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Time complexity</a:t>
            </a:r>
          </a:p>
        </p:txBody>
      </p:sp>
      <p:sp>
        <p:nvSpPr>
          <p:cNvPr id="103" name="Stat 103"/>
          <p:cNvSpPr/>
          <p:nvPr/>
        </p:nvSpPr>
        <p:spPr>
          <a:xfrm>
            <a:off x="7550000" y="2365000"/>
            <a:ext cx="3642000" cy="105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91440" rIns="91440" tIns="91440" bIns="9144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O(n·2ⁿ)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Space complexity</a:t>
            </a:r>
          </a:p>
        </p:txBody>
      </p:sp>
      <p:sp>
        <p:nvSpPr>
          <p:cNvPr id="104" name="Stat 104"/>
          <p:cNvSpPr/>
          <p:nvPr/>
        </p:nvSpPr>
        <p:spPr>
          <a:xfrm>
            <a:off x="7550000" y="3580000"/>
            <a:ext cx="3642000" cy="105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91440" rIns="91440" tIns="91440" bIns="9144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6 locations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Weighted graph</a:t>
            </a:r>
          </a:p>
        </p:txBody>
      </p:sp>
      <p:sp>
        <p:nvSpPr>
          <p:cNvPr id="105" name="Stat 105"/>
          <p:cNvSpPr/>
          <p:nvPr/>
        </p:nvSpPr>
        <p:spPr>
          <a:xfrm>
            <a:off x="7550000" y="4795000"/>
            <a:ext cx="3642000" cy="1055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91440" rIns="91440" tIns="91440" bIns="9144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Cost 42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Optimal tour found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1000000" y="1150000"/>
            <a:ext cx="10192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91440" bIns="91440" anchor="t" rtlCol="0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Finding an efficient route through many locations is a core optimisation problem in transportation, delivery planning and navigation. This project models the network as a weighted graph and uses Bitmask Dynamic Programming to find the minimum route cost.</a:t>
            </a:r>
          </a:p>
        </p:txBody>
      </p:sp>
      <p:sp>
        <p:nvSpPr>
          <p:cNvPr id="107" name="Card 107"/>
          <p:cNvSpPr/>
          <p:nvPr/>
        </p:nvSpPr>
        <p:spPr>
          <a:xfrm>
            <a:off x="1000000" y="2500000"/>
            <a:ext cx="3230666" cy="32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20000" rIns="120000" tIns="120000" bIns="120000" anchor="t" rtlCol="0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900" b="1" i="0" dirty="0">
                <a:solidFill>
                  <a:srgbClr val="C00000"/>
                </a:solidFill>
                <a:latin typeface="Calibri"/>
              </a:rPr>
              <a:t>1. Graph representation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Locations = vertices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Connections = weighted edges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Efficient representation of route networks</a:t>
            </a:r>
          </a:p>
        </p:txBody>
      </p:sp>
      <p:sp>
        <p:nvSpPr>
          <p:cNvPr id="108" name="Card 108"/>
          <p:cNvSpPr/>
          <p:nvPr/>
        </p:nvSpPr>
        <p:spPr>
          <a:xfrm>
            <a:off x="4480666" y="2500000"/>
            <a:ext cx="3230666" cy="32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20000" rIns="120000" tIns="120000" bIns="120000" anchor="t" rtlCol="0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900" b="1" i="0" dirty="0">
                <a:solidFill>
                  <a:srgbClr val="C00000"/>
                </a:solidFill>
                <a:latin typeface="Calibri"/>
              </a:rPr>
              <a:t>2. DP optimisation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Visited locations stored as bitmask states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Sub-problem results are reused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Computes the minimum route cost</a:t>
            </a:r>
          </a:p>
        </p:txBody>
      </p:sp>
      <p:sp>
        <p:nvSpPr>
          <p:cNvPr id="109" name="Card 109"/>
          <p:cNvSpPr/>
          <p:nvPr/>
        </p:nvSpPr>
        <p:spPr>
          <a:xfrm>
            <a:off x="7961332" y="2500000"/>
            <a:ext cx="3230666" cy="32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20000" rIns="120000" tIns="120000" bIns="120000" anchor="t" rtlCol="0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900" b="1" i="0" dirty="0">
                <a:solidFill>
                  <a:srgbClr val="C00000"/>
                </a:solidFill>
                <a:latin typeface="Calibri"/>
              </a:rPr>
              <a:t>3. Route output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Parent states stored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Optimal tour reconstructed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Route visualised on the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110" name="Table 110"/>
          <p:cNvGraphicFramePr>
            <a:graphicFrameLocks noGrp="1"/>
          </p:cNvGraphicFramePr>
          <p:nvPr/>
        </p:nvGraphicFramePr>
        <p:xfrm>
          <a:off x="1000000" y="1100000"/>
          <a:ext cx="10192000" cy="3360000"/>
        </p:xfrm>
        <a:graphic>
          <a:graphicData uri="http://schemas.openxmlformats.org/drawingml/2006/table">
            <a:tbl>
              <a:tblPr firstRow="1"/>
              <a:tblGrid>
                <a:gridCol w="2900000"/>
                <a:gridCol w="7292000"/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Dynamic Programming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Splits a problem into overlapping subproblems and stores results for reuse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Travelling Salesperson Problem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Minimum-cost tour visiting every location once and returning to the start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Bitmask DP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Binary bits mark visited locations, so each subset is one integer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Hamiltonian Path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Path visiting every vertex exactly once – basis of route optimisation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Route Optimisation Apps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Delivery planning, transportation networks, multi-location routing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1" name="Note 111"/>
          <p:cNvSpPr/>
          <p:nvPr/>
        </p:nvSpPr>
        <p:spPr>
          <a:xfrm>
            <a:off x="1000000" y="4650000"/>
            <a:ext cx="10192000" cy="10500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</p:spPr>
        <p:txBody>
          <a:bodyPr wrap="square" lIns="150000" rIns="150000" tIns="150000" bIns="150000" anchor="ctr" rtlCol="0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00000"/>
                </a:solidFill>
                <a:latin typeface="Calibri"/>
              </a:rPr>
              <a:t>Gap identified: </a:t>
            </a:r>
            <a:r>
              <a:rPr lang="en-US" sz="1600" b="0" i="0" dirty="0">
                <a:solidFill>
                  <a:srgbClr val="3A3A3A"/>
                </a:solidFill>
                <a:latin typeface="Calibri"/>
              </a:rPr>
              <a:t>shortest-path methods only connect a source to a destination, whereas this project optimises a complete tour through multiple 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112" name="Card 112"/>
          <p:cNvSpPr/>
          <p:nvPr/>
        </p:nvSpPr>
        <p:spPr>
          <a:xfrm>
            <a:off x="1000000" y="1150000"/>
            <a:ext cx="4300000" cy="46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20000" rIns="120000" tIns="120000" bIns="120000" anchor="t" rtlCol="0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Calibri"/>
              </a:rPr>
              <a:t>Problem statement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Finding a route that visits all locations exactly once and returns to the start gets very hard as locations increase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A systematic method is needed to track visited locations, evaluate route states and find the minimum-cost tour</a:t>
            </a:r>
          </a:p>
        </p:txBody>
      </p:sp>
      <p:sp>
        <p:nvSpPr>
          <p:cNvPr id="113" name="Card 113"/>
          <p:cNvSpPr/>
          <p:nvPr/>
        </p:nvSpPr>
        <p:spPr>
          <a:xfrm>
            <a:off x="5550000" y="1150000"/>
            <a:ext cx="5642000" cy="46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20000" rIns="120000" tIns="120000" bIns="120000" anchor="t" rtlCol="0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Calibri"/>
              </a:rPr>
              <a:t>Objectives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Represent locations and roads as a weighted graph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Represent visited locations with a binary bitmask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Apply DP to store and reuse optimal subproblems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Solve the multi-location route problem as TSP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Reconstruct and display the optimal route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Analyse DP states and complexity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Provide an interactive route visualisation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114" name="Step 114"/>
          <p:cNvSpPr/>
          <p:nvPr/>
        </p:nvSpPr>
        <p:spPr>
          <a:xfrm>
            <a:off x="1000000" y="1200000"/>
            <a:ext cx="1480000" cy="95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50000" rIns="50000" tIns="50000" bIns="5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Input Locations</a:t>
            </a:r>
          </a:p>
        </p:txBody>
      </p:sp>
      <p:sp>
        <p:nvSpPr>
          <p:cNvPr id="115" name="Step 115"/>
          <p:cNvSpPr/>
          <p:nvPr/>
        </p:nvSpPr>
        <p:spPr>
          <a:xfrm>
            <a:off x="2742400" y="1200000"/>
            <a:ext cx="1480000" cy="95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50000" rIns="50000" tIns="50000" bIns="5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Select Starting Location</a:t>
            </a:r>
          </a:p>
        </p:txBody>
      </p:sp>
      <p:sp>
        <p:nvSpPr>
          <p:cNvPr id="116" name="Step 116"/>
          <p:cNvSpPr/>
          <p:nvPr/>
        </p:nvSpPr>
        <p:spPr>
          <a:xfrm>
            <a:off x="4484800" y="1200000"/>
            <a:ext cx="1480000" cy="95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50000" rIns="50000" tIns="50000" bIns="5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Model Network as Weighted Graph</a:t>
            </a:r>
          </a:p>
        </p:txBody>
      </p:sp>
      <p:sp>
        <p:nvSpPr>
          <p:cNvPr id="117" name="Step 117"/>
          <p:cNvSpPr/>
          <p:nvPr/>
        </p:nvSpPr>
        <p:spPr>
          <a:xfrm>
            <a:off x="6227200" y="1200000"/>
            <a:ext cx="1480000" cy="95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50000" rIns="50000" tIns="50000" bIns="5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Generate Bitmask States</a:t>
            </a:r>
          </a:p>
        </p:txBody>
      </p:sp>
      <p:sp>
        <p:nvSpPr>
          <p:cNvPr id="118" name="Step 118"/>
          <p:cNvSpPr/>
          <p:nvPr/>
        </p:nvSpPr>
        <p:spPr>
          <a:xfrm>
            <a:off x="7969600" y="1200000"/>
            <a:ext cx="1480000" cy="95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50000" rIns="50000" tIns="50000" bIns="5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Initialize DP Table dp[mask][cur]</a:t>
            </a:r>
          </a:p>
        </p:txBody>
      </p:sp>
      <p:sp>
        <p:nvSpPr>
          <p:cNvPr id="119" name="Step 119"/>
          <p:cNvSpPr/>
          <p:nvPr/>
        </p:nvSpPr>
        <p:spPr>
          <a:xfrm>
            <a:off x="9712000" y="1200000"/>
            <a:ext cx="1480000" cy="95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50000" rIns="50000" tIns="50000" bIns="5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Explore Unvisited Locations</a:t>
            </a:r>
          </a:p>
        </p:txBody>
      </p:sp>
      <p:cxnSp>
        <p:nvCxnSpPr>
          <p:cNvPr id="120" name="Arrow 120"/>
          <p:cNvCxnSpPr/>
          <p:nvPr/>
        </p:nvCxnSpPr>
        <p:spPr>
          <a:xfrm>
            <a:off x="2480000" y="1675000"/>
            <a:ext cx="2624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cxnSp>
        <p:nvCxnSpPr>
          <p:cNvPr id="121" name="Arrow 121"/>
          <p:cNvCxnSpPr/>
          <p:nvPr/>
        </p:nvCxnSpPr>
        <p:spPr>
          <a:xfrm>
            <a:off x="4222400" y="1675000"/>
            <a:ext cx="2624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cxnSp>
        <p:nvCxnSpPr>
          <p:cNvPr id="122" name="Arrow 122"/>
          <p:cNvCxnSpPr/>
          <p:nvPr/>
        </p:nvCxnSpPr>
        <p:spPr>
          <a:xfrm>
            <a:off x="5964800" y="1675000"/>
            <a:ext cx="2624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cxnSp>
        <p:nvCxnSpPr>
          <p:cNvPr id="123" name="Arrow 123"/>
          <p:cNvCxnSpPr/>
          <p:nvPr/>
        </p:nvCxnSpPr>
        <p:spPr>
          <a:xfrm>
            <a:off x="7707200" y="1675000"/>
            <a:ext cx="2624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cxnSp>
        <p:nvCxnSpPr>
          <p:cNvPr id="124" name="Arrow 124"/>
          <p:cNvCxnSpPr/>
          <p:nvPr/>
        </p:nvCxnSpPr>
        <p:spPr>
          <a:xfrm>
            <a:off x="9449600" y="1675000"/>
            <a:ext cx="2624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sp>
        <p:nvSpPr>
          <p:cNvPr id="125" name="Step 125"/>
          <p:cNvSpPr/>
          <p:nvPr/>
        </p:nvSpPr>
        <p:spPr>
          <a:xfrm>
            <a:off x="9712000" y="3300000"/>
            <a:ext cx="1480000" cy="9500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</p:spPr>
        <p:txBody>
          <a:bodyPr wrap="square" lIns="50000" rIns="50000" tIns="50000" bIns="5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3A3A3A"/>
                </a:solidFill>
                <a:latin typeface="Calibri"/>
              </a:rPr>
              <a:t>Update Minimum Route Cost</a:t>
            </a:r>
          </a:p>
        </p:txBody>
      </p:sp>
      <p:sp>
        <p:nvSpPr>
          <p:cNvPr id="126" name="Step 126"/>
          <p:cNvSpPr/>
          <p:nvPr/>
        </p:nvSpPr>
        <p:spPr>
          <a:xfrm>
            <a:off x="7969600" y="3300000"/>
            <a:ext cx="1480000" cy="9500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</p:spPr>
        <p:txBody>
          <a:bodyPr wrap="square" lIns="50000" rIns="50000" tIns="50000" bIns="5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3A3A3A"/>
                </a:solidFill>
                <a:latin typeface="Calibri"/>
              </a:rPr>
              <a:t>Store Parent State</a:t>
            </a:r>
          </a:p>
        </p:txBody>
      </p:sp>
      <p:sp>
        <p:nvSpPr>
          <p:cNvPr id="128" name="Decision 128"/>
          <p:cNvSpPr/>
          <p:nvPr/>
        </p:nvSpPr>
        <p:spPr>
          <a:xfrm>
            <a:off x="6127200" y="3250000"/>
            <a:ext cx="1680000" cy="1050000"/>
          </a:xfrm>
          <a:prstGeom prst="diamond">
            <a:avLst/>
          </a:prstGeom>
          <a:solidFill>
            <a:srgbClr val="7F0000"/>
          </a:solidFill>
          <a:ln>
            <a:noFill/>
          </a:ln>
        </p:spPr>
        <p:txBody>
          <a:bodyPr wrap="square" lIns="0" rIns="0" tIns="0" bIns="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All Locations Visited?</a:t>
            </a:r>
          </a:p>
        </p:txBody>
      </p:sp>
      <p:sp>
        <p:nvSpPr>
          <p:cNvPr id="129" name="Step 129"/>
          <p:cNvSpPr/>
          <p:nvPr/>
        </p:nvSpPr>
        <p:spPr>
          <a:xfrm>
            <a:off x="4484800" y="3300000"/>
            <a:ext cx="1480000" cy="9500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</p:spPr>
        <p:txBody>
          <a:bodyPr wrap="square" lIns="50000" rIns="50000" tIns="50000" bIns="5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3A3A3A"/>
                </a:solidFill>
                <a:latin typeface="Calibri"/>
              </a:rPr>
              <a:t>Return to Starting Location</a:t>
            </a:r>
          </a:p>
        </p:txBody>
      </p:sp>
      <p:sp>
        <p:nvSpPr>
          <p:cNvPr id="130" name="Step 130"/>
          <p:cNvSpPr/>
          <p:nvPr/>
        </p:nvSpPr>
        <p:spPr>
          <a:xfrm>
            <a:off x="2742400" y="3300000"/>
            <a:ext cx="1480000" cy="9500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</p:spPr>
        <p:txBody>
          <a:bodyPr wrap="square" lIns="50000" rIns="50000" tIns="50000" bIns="5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3A3A3A"/>
                </a:solidFill>
                <a:latin typeface="Calibri"/>
              </a:rPr>
              <a:t>Reconstruct Optimal Tour</a:t>
            </a:r>
          </a:p>
        </p:txBody>
      </p:sp>
      <p:sp>
        <p:nvSpPr>
          <p:cNvPr id="131" name="Step 131"/>
          <p:cNvSpPr/>
          <p:nvPr/>
        </p:nvSpPr>
        <p:spPr>
          <a:xfrm>
            <a:off x="1000000" y="3300000"/>
            <a:ext cx="1480000" cy="9500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</p:spPr>
        <p:txBody>
          <a:bodyPr wrap="square" lIns="50000" rIns="50000" tIns="50000" bIns="5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3A3A3A"/>
                </a:solidFill>
                <a:latin typeface="Calibri"/>
              </a:rPr>
              <a:t>Display Route + Minimum Cost</a:t>
            </a:r>
          </a:p>
        </p:txBody>
      </p:sp>
      <p:cxnSp>
        <p:nvCxnSpPr>
          <p:cNvPr id="132" name="Arrow 132"/>
          <p:cNvCxnSpPr/>
          <p:nvPr/>
        </p:nvCxnSpPr>
        <p:spPr>
          <a:xfrm>
            <a:off x="10452000" y="2150000"/>
            <a:ext cx="0" cy="11500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cxnSp>
        <p:nvCxnSpPr>
          <p:cNvPr id="133" name="Arrow 133"/>
          <p:cNvCxnSpPr/>
          <p:nvPr/>
        </p:nvCxnSpPr>
        <p:spPr>
          <a:xfrm flipH="1">
            <a:off x="9449600" y="3775000"/>
            <a:ext cx="2624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cxnSp>
        <p:nvCxnSpPr>
          <p:cNvPr id="134" name="Arrow 134"/>
          <p:cNvCxnSpPr/>
          <p:nvPr/>
        </p:nvCxnSpPr>
        <p:spPr>
          <a:xfrm flipH="1">
            <a:off x="7807200" y="3775000"/>
            <a:ext cx="1624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cxnSp>
        <p:nvCxnSpPr>
          <p:cNvPr id="135" name="Arrow 135"/>
          <p:cNvCxnSpPr/>
          <p:nvPr/>
        </p:nvCxnSpPr>
        <p:spPr>
          <a:xfrm flipH="1">
            <a:off x="5964800" y="3775000"/>
            <a:ext cx="1624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cxnSp>
        <p:nvCxnSpPr>
          <p:cNvPr id="136" name="Arrow 136"/>
          <p:cNvCxnSpPr/>
          <p:nvPr/>
        </p:nvCxnSpPr>
        <p:spPr>
          <a:xfrm flipH="1">
            <a:off x="4222400" y="3775000"/>
            <a:ext cx="2624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cxnSp>
        <p:nvCxnSpPr>
          <p:cNvPr id="137" name="Arrow 137"/>
          <p:cNvCxnSpPr/>
          <p:nvPr/>
        </p:nvCxnSpPr>
        <p:spPr>
          <a:xfrm flipH="1">
            <a:off x="2480000" y="3775000"/>
            <a:ext cx="2624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sp>
        <p:nvSpPr>
          <p:cNvPr id="138" name="Label 138"/>
          <p:cNvSpPr txBox="1"/>
          <p:nvPr/>
        </p:nvSpPr>
        <p:spPr>
          <a:xfrm>
            <a:off x="5884800" y="3445000"/>
            <a:ext cx="4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 rtlCol="0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</a:rPr>
              <a:t>Yes</a:t>
            </a:r>
          </a:p>
        </p:txBody>
      </p:sp>
      <p:sp>
        <p:nvSpPr>
          <p:cNvPr id="139" name="Label 139"/>
          <p:cNvSpPr txBox="1"/>
          <p:nvPr/>
        </p:nvSpPr>
        <p:spPr>
          <a:xfrm>
            <a:off x="7047200" y="2395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 rtlCol="0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C00000"/>
                </a:solidFill>
                <a:latin typeface="Calibri"/>
              </a:rPr>
              <a:t>No</a:t>
            </a:r>
          </a:p>
        </p:txBody>
      </p:sp>
      <p:cxnSp>
        <p:nvCxnSpPr>
          <p:cNvPr id="140" name="Arrow 140"/>
          <p:cNvCxnSpPr/>
          <p:nvPr/>
        </p:nvCxnSpPr>
        <p:spPr>
          <a:xfrm flipV="1">
            <a:off x="6967200" y="2725000"/>
            <a:ext cx="0" cy="5250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cxnSp>
        <p:nvCxnSpPr>
          <p:cNvPr id="141" name="Arrow 141"/>
          <p:cNvCxnSpPr/>
          <p:nvPr/>
        </p:nvCxnSpPr>
        <p:spPr>
          <a:xfrm>
            <a:off x="6967200" y="2725000"/>
            <a:ext cx="2994800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cxnSp>
        <p:nvCxnSpPr>
          <p:cNvPr id="142" name="Arrow 142"/>
          <p:cNvCxnSpPr/>
          <p:nvPr/>
        </p:nvCxnSpPr>
        <p:spPr>
          <a:xfrm flipV="1">
            <a:off x="9962000" y="2150000"/>
            <a:ext cx="0" cy="5750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</p:cxnSp>
      <p:sp>
        <p:nvSpPr>
          <p:cNvPr id="143" name="Note 143"/>
          <p:cNvSpPr/>
          <p:nvPr/>
        </p:nvSpPr>
        <p:spPr>
          <a:xfrm>
            <a:off x="1000000" y="4550000"/>
            <a:ext cx="10192000" cy="9500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>
            <a:noFill/>
          </a:ln>
        </p:spPr>
        <p:txBody>
          <a:bodyPr wrap="square" lIns="130000" rIns="130000" tIns="130000" bIns="130000" anchor="ctr" rtlCol="0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C00000"/>
                </a:solidFill>
                <a:latin typeface="Calibri"/>
              </a:rPr>
              <a:t>How it works: </a:t>
            </a:r>
            <a:r>
              <a:rPr lang="en-US" sz="1500" b="0" i="0" dirty="0">
                <a:solidFill>
                  <a:srgbClr val="3A3A3A"/>
                </a:solidFill>
                <a:latin typeface="Calibri"/>
              </a:rPr>
              <a:t>the bitmask marks visited locations; dp[mask][current] stores the minimum cost to reach the current location for that visited set. This repeats until all locations are visited, then the tour is rebuilt from parent states.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44" name="Label 144"/>
          <p:cNvSpPr txBox="1"/>
          <p:nvPr/>
        </p:nvSpPr>
        <p:spPr>
          <a:xfrm>
            <a:off x="1000000" y="1050000"/>
            <a:ext cx="47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91440" bIns="91440" anchor="t" rtlCol="0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C00000"/>
                </a:solidFill>
                <a:latin typeface="Calibri"/>
              </a:rPr>
              <a:t>Cost matrix (weights between 6 locations)</a:t>
            </a:r>
          </a:p>
        </p:txBody>
      </p:sp>
      <p:graphicFrame>
        <p:nvGraphicFramePr>
          <p:cNvPr id="145" name="Table 145"/>
          <p:cNvGraphicFramePr>
            <a:graphicFrameLocks noGrp="1"/>
          </p:cNvGraphicFramePr>
          <p:nvPr/>
        </p:nvGraphicFramePr>
        <p:xfrm>
          <a:off x="1000000" y="1450000"/>
          <a:ext cx="4696000" cy="2310000"/>
        </p:xfrm>
        <a:graphic>
          <a:graphicData uri="http://schemas.openxmlformats.org/drawingml/2006/table">
            <a:tbl>
              <a:tblPr firstRow="1"/>
              <a:tblGrid>
                <a:gridCol w="700000"/>
                <a:gridCol w="666000"/>
                <a:gridCol w="666000"/>
                <a:gridCol w="666000"/>
                <a:gridCol w="666000"/>
                <a:gridCol w="666000"/>
                <a:gridCol w="666000"/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HYD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SEC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MDH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GCB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KPH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UPL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HYD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SEC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MDH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GCB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KPH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UPL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</a:tr>
            </a:tbl>
          </a:graphicData>
        </a:graphic>
      </p:graphicFrame>
      <p:sp>
        <p:nvSpPr>
          <p:cNvPr id="146" name="Label 146"/>
          <p:cNvSpPr txBox="1"/>
          <p:nvPr/>
        </p:nvSpPr>
        <p:spPr>
          <a:xfrm>
            <a:off x="6000000" y="1050000"/>
            <a:ext cx="5192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91440" bIns="91440" anchor="t" rtlCol="0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C00000"/>
                </a:solidFill>
                <a:latin typeface="Calibri"/>
              </a:rPr>
              <a:t>Optimal tour (start = Hyderabad)</a:t>
            </a:r>
          </a:p>
        </p:txBody>
      </p:sp>
      <p:sp>
        <p:nvSpPr>
          <p:cNvPr id="147" name="Node 147"/>
          <p:cNvSpPr/>
          <p:nvPr/>
        </p:nvSpPr>
        <p:spPr>
          <a:xfrm>
            <a:off x="6000000" y="1550000"/>
            <a:ext cx="640000" cy="520000"/>
          </a:xfrm>
          <a:prstGeom prst="roundRect">
            <a:avLst>
              <a:gd name="adj" fmla="val 10000"/>
            </a:avLst>
          </a:prstGeom>
          <a:solidFill>
            <a:srgbClr val="7F0000"/>
          </a:solidFill>
          <a:ln>
            <a:noFill/>
          </a:ln>
        </p:spPr>
        <p:txBody>
          <a:bodyPr wrap="square" lIns="20000" rIns="20000" tIns="20000" bIns="2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HYD</a:t>
            </a:r>
          </a:p>
        </p:txBody>
      </p:sp>
      <p:sp>
        <p:nvSpPr>
          <p:cNvPr id="148" name="Node 148"/>
          <p:cNvSpPr/>
          <p:nvPr/>
        </p:nvSpPr>
        <p:spPr>
          <a:xfrm>
            <a:off x="6758666" y="1550000"/>
            <a:ext cx="640000" cy="52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20000" rIns="20000" tIns="20000" bIns="2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UPL</a:t>
            </a:r>
          </a:p>
        </p:txBody>
      </p:sp>
      <p:sp>
        <p:nvSpPr>
          <p:cNvPr id="149" name="Edge 149"/>
          <p:cNvSpPr txBox="1"/>
          <p:nvPr/>
        </p:nvSpPr>
        <p:spPr>
          <a:xfrm>
            <a:off x="6580000" y="2100000"/>
            <a:ext cx="23866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666666"/>
                </a:solidFill>
                <a:latin typeface="Calibri"/>
              </a:rPr>
              <a:t>+8</a:t>
            </a:r>
          </a:p>
        </p:txBody>
      </p:sp>
      <p:sp>
        <p:nvSpPr>
          <p:cNvPr id="150" name="Node 150"/>
          <p:cNvSpPr/>
          <p:nvPr/>
        </p:nvSpPr>
        <p:spPr>
          <a:xfrm>
            <a:off x="7517332" y="1550000"/>
            <a:ext cx="640000" cy="52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20000" rIns="20000" tIns="20000" bIns="2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KPH</a:t>
            </a:r>
          </a:p>
        </p:txBody>
      </p:sp>
      <p:sp>
        <p:nvSpPr>
          <p:cNvPr id="151" name="Edge 151"/>
          <p:cNvSpPr txBox="1"/>
          <p:nvPr/>
        </p:nvSpPr>
        <p:spPr>
          <a:xfrm>
            <a:off x="7338666" y="2100000"/>
            <a:ext cx="23866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666666"/>
                </a:solidFill>
                <a:latin typeface="Calibri"/>
              </a:rPr>
              <a:t>+7</a:t>
            </a:r>
          </a:p>
        </p:txBody>
      </p:sp>
      <p:sp>
        <p:nvSpPr>
          <p:cNvPr id="152" name="Node 152"/>
          <p:cNvSpPr/>
          <p:nvPr/>
        </p:nvSpPr>
        <p:spPr>
          <a:xfrm>
            <a:off x="8275998" y="1550000"/>
            <a:ext cx="640000" cy="52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20000" rIns="20000" tIns="20000" bIns="2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GCB</a:t>
            </a:r>
          </a:p>
        </p:txBody>
      </p:sp>
      <p:sp>
        <p:nvSpPr>
          <p:cNvPr id="153" name="Edge 153"/>
          <p:cNvSpPr txBox="1"/>
          <p:nvPr/>
        </p:nvSpPr>
        <p:spPr>
          <a:xfrm>
            <a:off x="8097332" y="2100000"/>
            <a:ext cx="23866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666666"/>
                </a:solidFill>
                <a:latin typeface="Calibri"/>
              </a:rPr>
              <a:t>+6</a:t>
            </a:r>
          </a:p>
        </p:txBody>
      </p:sp>
      <p:sp>
        <p:nvSpPr>
          <p:cNvPr id="154" name="Node 154"/>
          <p:cNvSpPr/>
          <p:nvPr/>
        </p:nvSpPr>
        <p:spPr>
          <a:xfrm>
            <a:off x="9034664" y="1550000"/>
            <a:ext cx="640000" cy="52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20000" rIns="20000" tIns="20000" bIns="2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MDH</a:t>
            </a:r>
          </a:p>
        </p:txBody>
      </p:sp>
      <p:sp>
        <p:nvSpPr>
          <p:cNvPr id="155" name="Edge 155"/>
          <p:cNvSpPr txBox="1"/>
          <p:nvPr/>
        </p:nvSpPr>
        <p:spPr>
          <a:xfrm>
            <a:off x="8855998" y="2100000"/>
            <a:ext cx="23866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666666"/>
                </a:solidFill>
                <a:latin typeface="Calibri"/>
              </a:rPr>
              <a:t>+5</a:t>
            </a:r>
          </a:p>
        </p:txBody>
      </p:sp>
      <p:sp>
        <p:nvSpPr>
          <p:cNvPr id="156" name="Node 156"/>
          <p:cNvSpPr/>
          <p:nvPr/>
        </p:nvSpPr>
        <p:spPr>
          <a:xfrm>
            <a:off x="9793330" y="1550000"/>
            <a:ext cx="640000" cy="52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20000" rIns="20000" tIns="20000" bIns="2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SEC</a:t>
            </a:r>
          </a:p>
        </p:txBody>
      </p:sp>
      <p:sp>
        <p:nvSpPr>
          <p:cNvPr id="157" name="Edge 157"/>
          <p:cNvSpPr txBox="1"/>
          <p:nvPr/>
        </p:nvSpPr>
        <p:spPr>
          <a:xfrm>
            <a:off x="9614664" y="2100000"/>
            <a:ext cx="23866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666666"/>
                </a:solidFill>
                <a:latin typeface="Calibri"/>
              </a:rPr>
              <a:t>+7</a:t>
            </a:r>
          </a:p>
        </p:txBody>
      </p:sp>
      <p:sp>
        <p:nvSpPr>
          <p:cNvPr id="158" name="Node 158"/>
          <p:cNvSpPr/>
          <p:nvPr/>
        </p:nvSpPr>
        <p:spPr>
          <a:xfrm>
            <a:off x="10551996" y="1550000"/>
            <a:ext cx="640000" cy="520000"/>
          </a:xfrm>
          <a:prstGeom prst="roundRect">
            <a:avLst>
              <a:gd name="adj" fmla="val 10000"/>
            </a:avLst>
          </a:prstGeom>
          <a:solidFill>
            <a:srgbClr val="7F0000"/>
          </a:solidFill>
          <a:ln>
            <a:noFill/>
          </a:ln>
        </p:spPr>
        <p:txBody>
          <a:bodyPr wrap="square" lIns="20000" rIns="20000" tIns="20000" bIns="2000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HYD</a:t>
            </a:r>
          </a:p>
        </p:txBody>
      </p:sp>
      <p:sp>
        <p:nvSpPr>
          <p:cNvPr id="159" name="Edge 159"/>
          <p:cNvSpPr txBox="1"/>
          <p:nvPr/>
        </p:nvSpPr>
        <p:spPr>
          <a:xfrm>
            <a:off x="10373330" y="2100000"/>
            <a:ext cx="23866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666666"/>
                </a:solidFill>
                <a:latin typeface="Calibri"/>
              </a:rPr>
              <a:t>+9</a:t>
            </a:r>
          </a:p>
        </p:txBody>
      </p:sp>
      <p:sp>
        <p:nvSpPr>
          <p:cNvPr id="160" name="Stat 160"/>
          <p:cNvSpPr/>
          <p:nvPr/>
        </p:nvSpPr>
        <p:spPr>
          <a:xfrm>
            <a:off x="6000000" y="2600000"/>
            <a:ext cx="1500000" cy="100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91440" rIns="91440" tIns="91440" bIns="9144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42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Minimum cost</a:t>
            </a:r>
          </a:p>
        </p:txBody>
      </p:sp>
      <p:sp>
        <p:nvSpPr>
          <p:cNvPr id="161" name="Stat 161"/>
          <p:cNvSpPr/>
          <p:nvPr/>
        </p:nvSpPr>
        <p:spPr>
          <a:xfrm>
            <a:off x="7650000" y="2600000"/>
            <a:ext cx="1500000" cy="100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91440" rIns="91440" tIns="91440" bIns="9144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384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DP states n·2ⁿ</a:t>
            </a:r>
          </a:p>
        </p:txBody>
      </p:sp>
      <p:sp>
        <p:nvSpPr>
          <p:cNvPr id="162" name="Stat 162"/>
          <p:cNvSpPr/>
          <p:nvPr/>
        </p:nvSpPr>
        <p:spPr>
          <a:xfrm>
            <a:off x="9300000" y="2600000"/>
            <a:ext cx="1892000" cy="100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91440" rIns="91440" tIns="91440" bIns="91440" anchor="ctr" rtlCol="0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111111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Final mask (63)</a:t>
            </a:r>
          </a:p>
        </p:txBody>
      </p:sp>
      <p:graphicFrame>
        <p:nvGraphicFramePr>
          <p:cNvPr id="163" name="Table 163"/>
          <p:cNvGraphicFramePr>
            <a:graphicFrameLocks noGrp="1"/>
          </p:cNvGraphicFramePr>
          <p:nvPr/>
        </p:nvGraphicFramePr>
        <p:xfrm>
          <a:off x="1000000" y="4150000"/>
          <a:ext cx="5600000" cy="1650000"/>
        </p:xfrm>
        <a:graphic>
          <a:graphicData uri="http://schemas.openxmlformats.org/drawingml/2006/table">
            <a:tbl>
              <a:tblPr firstRow="1"/>
              <a:tblGrid>
                <a:gridCol w="1500000"/>
                <a:gridCol w="1300000"/>
                <a:gridCol w="1300000"/>
                <a:gridCol w="1500000"/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Locations (n)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2ⁿ masks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n·2ⁿ states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Optimal cost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8F1F1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7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7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384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7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3A3A3A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60000" marR="60000" marT="30000" marB="30000" anchor="ctr">
                    <a:lnL w="6350">
                      <a:solidFill>
                        <a:srgbClr val="D9B8B8"/>
                      </a:solidFill>
                    </a:lnL>
                    <a:lnR w="6350">
                      <a:solidFill>
                        <a:srgbClr val="D9B8B8"/>
                      </a:solidFill>
                    </a:lnR>
                    <a:lnT w="6350">
                      <a:solidFill>
                        <a:srgbClr val="D9B8B8"/>
                      </a:solidFill>
                    </a:lnT>
                    <a:lnB w="6350">
                      <a:solidFill>
                        <a:srgbClr val="D9B8B8"/>
                      </a:solidFill>
                    </a:lnB>
                    <a:solidFill>
                      <a:srgbClr val="F7D9D9"/>
                    </a:solidFill>
                  </a:tcPr>
                </a:tc>
              </a:tr>
            </a:tbl>
          </a:graphicData>
        </a:graphic>
      </p:graphicFrame>
      <p:sp>
        <p:nvSpPr>
          <p:cNvPr id="164" name="Text 164"/>
          <p:cNvSpPr txBox="1"/>
          <p:nvPr/>
        </p:nvSpPr>
        <p:spPr>
          <a:xfrm>
            <a:off x="6900000" y="4100000"/>
            <a:ext cx="4292000" cy="190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91440" bIns="91440" anchor="t" rtlCol="0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C00000"/>
                </a:solidFill>
                <a:latin typeface="Calibri"/>
              </a:rPr>
              <a:t>Observations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A3A3A"/>
                </a:solidFill>
                <a:latin typeface="Calibri"/>
              </a:rPr>
              <a:t>Locations, edges, masks and DP states handled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A3A3A"/>
                </a:solidFill>
                <a:latin typeface="Calibri"/>
              </a:rPr>
              <a:t>Route reconstructed and drawn on the graph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A3A3A"/>
                </a:solidFill>
                <a:latin typeface="Calibri"/>
              </a:rPr>
              <a:t>States double with every extra location</a:t>
            </a:r>
          </a:p>
          <a:p>
            <a:pPr algn="l" marL="228600" indent="-228600">
              <a:spcAft>
                <a:spcPts val="0"/>
              </a:spcAft>
              <a:buFont typeface="Arial"/>
              <a:buChar char="•"/>
            </a:pPr>
            <a:r>
              <a:rPr lang="en-US" sz="1400" b="0" i="0" dirty="0">
                <a:solidFill>
                  <a:srgbClr val="3A3A3A"/>
                </a:solidFill>
                <a:latin typeface="Calibri"/>
              </a:rPr>
              <a:t>Time O(n²·2ⁿ), space O(n·2ⁿ)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65" name="Card 165"/>
          <p:cNvSpPr/>
          <p:nvPr/>
        </p:nvSpPr>
        <p:spPr>
          <a:xfrm>
            <a:off x="1000000" y="1150000"/>
            <a:ext cx="4946000" cy="37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20000" rIns="120000" tIns="120000" bIns="120000" anchor="t" rtlCol="0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Calibri"/>
              </a:rPr>
              <a:t>Hardware requirements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3A3A3A"/>
                </a:solidFill>
                <a:latin typeface="Calibri"/>
              </a:rPr>
              <a:t>Standard PC / laptop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3A3A3A"/>
                </a:solidFill>
                <a:latin typeface="Calibri"/>
              </a:rPr>
              <a:t>Dual-core processor or better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3A3A3A"/>
                </a:solidFill>
                <a:latin typeface="Calibri"/>
              </a:rPr>
              <a:t>Minimum 4 GB RAM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3A3A3A"/>
                </a:solidFill>
                <a:latin typeface="Calibri"/>
              </a:rPr>
              <a:t>Keyboard and mouse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3A3A3A"/>
                </a:solidFill>
                <a:latin typeface="Calibri"/>
              </a:rPr>
              <a:t>Display monitor</a:t>
            </a:r>
          </a:p>
        </p:txBody>
      </p:sp>
      <p:sp>
        <p:nvSpPr>
          <p:cNvPr id="166" name="Card 166"/>
          <p:cNvSpPr/>
          <p:nvPr/>
        </p:nvSpPr>
        <p:spPr>
          <a:xfrm>
            <a:off x="6246000" y="1150000"/>
            <a:ext cx="4946000" cy="37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20000" rIns="120000" tIns="120000" bIns="120000" anchor="t" rtlCol="0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Calibri"/>
              </a:rPr>
              <a:t>Software requirements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3A3A3A"/>
                </a:solidFill>
                <a:latin typeface="Calibri"/>
              </a:rPr>
              <a:t>OS: Windows / Linux / macOS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3A3A3A"/>
                </a:solidFill>
                <a:latin typeface="Calibri"/>
              </a:rPr>
              <a:t>Languages: HTML5, CSS3, JavaScript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3A3A3A"/>
                </a:solidFill>
                <a:latin typeface="Calibri"/>
              </a:rPr>
              <a:t>IDE: VS Code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3A3A3A"/>
                </a:solidFill>
                <a:latin typeface="Calibri"/>
              </a:rPr>
              <a:t>Browser: Chrome / Edge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3A3A3A"/>
                </a:solidFill>
                <a:latin typeface="Calibri"/>
              </a:rPr>
              <a:t>Algorithm: Bitmask DP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3A3A3A"/>
                </a:solidFill>
                <a:latin typeface="Calibri"/>
              </a:rPr>
              <a:t>Problem model: TSP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67" name="Card 167"/>
          <p:cNvSpPr/>
          <p:nvPr/>
        </p:nvSpPr>
        <p:spPr>
          <a:xfrm>
            <a:off x="1000000" y="1150000"/>
            <a:ext cx="4971000" cy="21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30000" rIns="130000" tIns="130000" bIns="130000" anchor="t" rtlCol="0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Calibri"/>
              </a:rPr>
              <a:t>Graph + DP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Graph representation and Dynamic Programming solve a practical route optimisation problem.</a:t>
            </a:r>
          </a:p>
        </p:txBody>
      </p:sp>
      <p:sp>
        <p:nvSpPr>
          <p:cNvPr id="168" name="Card 168"/>
          <p:cNvSpPr/>
          <p:nvPr/>
        </p:nvSpPr>
        <p:spPr>
          <a:xfrm>
            <a:off x="6221000" y="1150000"/>
            <a:ext cx="4971000" cy="21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30000" rIns="130000" tIns="130000" bIns="130000" anchor="t" rtlCol="0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Calibri"/>
              </a:rPr>
              <a:t>Bitmask states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Visited locations are stored as bitmasks, so optimal subproblems are computed efficiently.</a:t>
            </a:r>
          </a:p>
        </p:txBody>
      </p:sp>
      <p:sp>
        <p:nvSpPr>
          <p:cNvPr id="169" name="Card 169"/>
          <p:cNvSpPr/>
          <p:nvPr/>
        </p:nvSpPr>
        <p:spPr>
          <a:xfrm>
            <a:off x="1000000" y="3550000"/>
            <a:ext cx="4971000" cy="21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30000" rIns="130000" tIns="130000" bIns="130000" anchor="t" rtlCol="0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Calibri"/>
              </a:rPr>
              <a:t>TSP result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The system finds a minimum-cost tour through every selected location – cost 42 for the 6-location network.</a:t>
            </a:r>
          </a:p>
        </p:txBody>
      </p:sp>
      <p:sp>
        <p:nvSpPr>
          <p:cNvPr id="170" name="Card 170"/>
          <p:cNvSpPr/>
          <p:nvPr/>
        </p:nvSpPr>
        <p:spPr>
          <a:xfrm>
            <a:off x="6221000" y="3550000"/>
            <a:ext cx="4971000" cy="21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30000" rIns="130000" tIns="130000" bIns="130000" anchor="t" rtlCol="0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2000" b="1" i="0" dirty="0">
                <a:solidFill>
                  <a:srgbClr val="C00000"/>
                </a:solidFill>
                <a:latin typeface="Calibri"/>
              </a:rPr>
              <a:t>DSA concepts shown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lang="en-US" sz="1700" b="0" i="0" dirty="0">
                <a:solidFill>
                  <a:srgbClr val="3A3A3A"/>
                </a:solidFill>
                <a:latin typeface="Calibri"/>
              </a:rPr>
              <a:t>Graphs, state compression, DP, route reconstruction and complexity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171" name="Card 171"/>
          <p:cNvSpPr/>
          <p:nvPr/>
        </p:nvSpPr>
        <p:spPr>
          <a:xfrm>
            <a:off x="1000000" y="1150000"/>
            <a:ext cx="4971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30000" rIns="130000" tIns="130000" bIns="130000" anchor="ctr" rtlCol="0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800" b="1" i="0" dirty="0">
                <a:solidFill>
                  <a:srgbClr val="C00000"/>
                </a:solidFill>
                <a:latin typeface="Calibri"/>
              </a:rPr>
              <a:t>Larger networks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3A3A3A"/>
                </a:solidFill>
                <a:latin typeface="Calibri"/>
              </a:rPr>
              <a:t>Support more locations</a:t>
            </a:r>
          </a:p>
        </p:txBody>
      </p:sp>
      <p:sp>
        <p:nvSpPr>
          <p:cNvPr id="172" name="Card 172"/>
          <p:cNvSpPr/>
          <p:nvPr/>
        </p:nvSpPr>
        <p:spPr>
          <a:xfrm>
            <a:off x="6221000" y="1150000"/>
            <a:ext cx="4971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30000" rIns="130000" tIns="130000" bIns="130000" anchor="ctr" rtlCol="0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800" b="1" i="0" dirty="0">
                <a:solidFill>
                  <a:srgbClr val="C00000"/>
                </a:solidFill>
                <a:latin typeface="Calibri"/>
              </a:rPr>
              <a:t>Multiple routes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3A3A3A"/>
                </a:solidFill>
                <a:latin typeface="Calibri"/>
              </a:rPr>
              <a:t>Offer several optimised options</a:t>
            </a:r>
          </a:p>
        </p:txBody>
      </p:sp>
      <p:sp>
        <p:nvSpPr>
          <p:cNvPr id="173" name="Card 173"/>
          <p:cNvSpPr/>
          <p:nvPr/>
        </p:nvSpPr>
        <p:spPr>
          <a:xfrm>
            <a:off x="1000000" y="2300000"/>
            <a:ext cx="4971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30000" rIns="130000" tIns="130000" bIns="130000" anchor="ctr" rtlCol="0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800" b="1" i="0" dirty="0">
                <a:solidFill>
                  <a:srgbClr val="C00000"/>
                </a:solidFill>
                <a:latin typeface="Calibri"/>
              </a:rPr>
              <a:t>Extra constraints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3A3A3A"/>
                </a:solidFill>
                <a:latin typeface="Calibri"/>
              </a:rPr>
              <a:t>Maximum distance or time limits</a:t>
            </a:r>
          </a:p>
        </p:txBody>
      </p:sp>
      <p:sp>
        <p:nvSpPr>
          <p:cNvPr id="174" name="Card 174"/>
          <p:cNvSpPr/>
          <p:nvPr/>
        </p:nvSpPr>
        <p:spPr>
          <a:xfrm>
            <a:off x="6221000" y="2300000"/>
            <a:ext cx="4971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30000" rIns="130000" tIns="130000" bIns="130000" anchor="ctr" rtlCol="0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800" b="1" i="0" dirty="0">
                <a:solidFill>
                  <a:srgbClr val="C00000"/>
                </a:solidFill>
                <a:latin typeface="Calibri"/>
              </a:rPr>
              <a:t>Logistics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3A3A3A"/>
                </a:solidFill>
                <a:latin typeface="Calibri"/>
              </a:rPr>
              <a:t>Extend to delivery route planning</a:t>
            </a:r>
          </a:p>
        </p:txBody>
      </p:sp>
      <p:sp>
        <p:nvSpPr>
          <p:cNvPr id="175" name="Card 175"/>
          <p:cNvSpPr/>
          <p:nvPr/>
        </p:nvSpPr>
        <p:spPr>
          <a:xfrm>
            <a:off x="1000000" y="3450000"/>
            <a:ext cx="4971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30000" rIns="130000" tIns="130000" bIns="130000" anchor="ctr" rtlCol="0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800" b="1" i="0" dirty="0">
                <a:solidFill>
                  <a:srgbClr val="C00000"/>
                </a:solidFill>
                <a:latin typeface="Calibri"/>
              </a:rPr>
              <a:t>Dynamic weights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3A3A3A"/>
                </a:solidFill>
                <a:latin typeface="Calibri"/>
              </a:rPr>
              <a:t>Changing travel conditions</a:t>
            </a:r>
          </a:p>
        </p:txBody>
      </p:sp>
      <p:sp>
        <p:nvSpPr>
          <p:cNvPr id="176" name="Card 176"/>
          <p:cNvSpPr/>
          <p:nvPr/>
        </p:nvSpPr>
        <p:spPr>
          <a:xfrm>
            <a:off x="6221000" y="3450000"/>
            <a:ext cx="4971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30000" rIns="130000" tIns="130000" bIns="130000" anchor="ctr" rtlCol="0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800" b="1" i="0" dirty="0">
                <a:solidFill>
                  <a:srgbClr val="C00000"/>
                </a:solidFill>
                <a:latin typeface="Calibri"/>
              </a:rPr>
              <a:t>Better visuals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3A3A3A"/>
                </a:solidFill>
                <a:latin typeface="Calibri"/>
              </a:rPr>
              <a:t>DP states and route transitions</a:t>
            </a:r>
          </a:p>
        </p:txBody>
      </p:sp>
      <p:sp>
        <p:nvSpPr>
          <p:cNvPr id="177" name="Card 177"/>
          <p:cNvSpPr/>
          <p:nvPr/>
        </p:nvSpPr>
        <p:spPr>
          <a:xfrm>
            <a:off x="1000000" y="4600000"/>
            <a:ext cx="4971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30000" rIns="130000" tIns="130000" bIns="130000" anchor="ctr" rtlCol="0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800" b="1" i="0" dirty="0">
                <a:solidFill>
                  <a:srgbClr val="C00000"/>
                </a:solidFill>
                <a:latin typeface="Calibri"/>
              </a:rPr>
              <a:t>Advanced techniques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3A3A3A"/>
                </a:solidFill>
                <a:latin typeface="Calibri"/>
              </a:rPr>
              <a:t>Handle larger instances</a:t>
            </a:r>
          </a:p>
        </p:txBody>
      </p:sp>
      <p:sp>
        <p:nvSpPr>
          <p:cNvPr id="178" name="Card 178"/>
          <p:cNvSpPr/>
          <p:nvPr/>
        </p:nvSpPr>
        <p:spPr>
          <a:xfrm>
            <a:off x="6221000" y="4600000"/>
            <a:ext cx="4971000" cy="10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B5B5"/>
            </a:solidFill>
          </a:ln>
        </p:spPr>
        <p:txBody>
          <a:bodyPr wrap="square" lIns="130000" rIns="130000" tIns="130000" bIns="130000" anchor="ctr" rtlCol="0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800" b="1" i="0" dirty="0">
                <a:solidFill>
                  <a:srgbClr val="C00000"/>
                </a:solidFill>
                <a:latin typeface="Calibri"/>
              </a:rPr>
              <a:t>Full system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3A3A3A"/>
                </a:solidFill>
                <a:latin typeface="Calibri"/>
              </a:rPr>
              <a:t>An intelligent route planning product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Geo-Tagged Photo</a:t>
            </a:r>
          </a:p>
        </p:txBody>
      </p:sp>
      <p:pic>
        <p:nvPicPr>
          <p:cNvPr id="102" name="Geo-tagged photo" descr="Team 13 geo-tagged photo with GPS location and timesta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667" y="1050000"/>
            <a:ext cx="7066666" cy="53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